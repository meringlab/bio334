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7" r:id="rId2"/>
    <p:sldId id="334" r:id="rId3"/>
    <p:sldId id="282" r:id="rId4"/>
    <p:sldId id="309" r:id="rId5"/>
    <p:sldId id="284" r:id="rId6"/>
    <p:sldId id="285" r:id="rId7"/>
    <p:sldId id="310" r:id="rId8"/>
    <p:sldId id="286" r:id="rId9"/>
    <p:sldId id="287" r:id="rId10"/>
    <p:sldId id="311" r:id="rId11"/>
    <p:sldId id="288" r:id="rId12"/>
    <p:sldId id="290" r:id="rId13"/>
    <p:sldId id="291" r:id="rId14"/>
    <p:sldId id="313" r:id="rId15"/>
    <p:sldId id="292" r:id="rId16"/>
    <p:sldId id="303" r:id="rId17"/>
    <p:sldId id="289" r:id="rId18"/>
    <p:sldId id="323" r:id="rId19"/>
    <p:sldId id="322" r:id="rId20"/>
    <p:sldId id="325" r:id="rId21"/>
    <p:sldId id="293" r:id="rId22"/>
    <p:sldId id="304" r:id="rId23"/>
    <p:sldId id="306" r:id="rId24"/>
    <p:sldId id="336" r:id="rId25"/>
    <p:sldId id="324" r:id="rId26"/>
    <p:sldId id="321" r:id="rId27"/>
    <p:sldId id="320" r:id="rId28"/>
    <p:sldId id="318" r:id="rId29"/>
    <p:sldId id="301" r:id="rId30"/>
    <p:sldId id="319" r:id="rId31"/>
    <p:sldId id="314" r:id="rId32"/>
    <p:sldId id="305" r:id="rId33"/>
    <p:sldId id="296" r:id="rId34"/>
    <p:sldId id="333" r:id="rId35"/>
    <p:sldId id="326" r:id="rId36"/>
    <p:sldId id="335" r:id="rId37"/>
    <p:sldId id="329" r:id="rId38"/>
    <p:sldId id="330" r:id="rId39"/>
    <p:sldId id="327" r:id="rId40"/>
    <p:sldId id="332" r:id="rId41"/>
    <p:sldId id="294" r:id="rId42"/>
    <p:sldId id="297" r:id="rId43"/>
    <p:sldId id="328" r:id="rId44"/>
    <p:sldId id="331" r:id="rId45"/>
    <p:sldId id="295" r:id="rId46"/>
    <p:sldId id="298" r:id="rId47"/>
    <p:sldId id="308" r:id="rId48"/>
    <p:sldId id="315" r:id="rId49"/>
    <p:sldId id="316" r:id="rId50"/>
    <p:sldId id="317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3835E-4D50-D345-989C-804C847344BE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DA27A4-96F6-584C-ACDF-40B4EDF40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02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A27A4-96F6-584C-ACDF-40B4EDF403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42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A27A4-96F6-584C-ACDF-40B4EDF403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11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A27A4-96F6-584C-ACDF-40B4EDF403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64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A27A4-96F6-584C-ACDF-40B4EDF403D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3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A27A4-96F6-584C-ACDF-40B4EDF403D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62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A27A4-96F6-584C-ACDF-40B4EDF403D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22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C550D-78D3-3563-C592-CA989C758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F1491-70DA-3CC1-C011-091731863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462B1-E56A-9F5A-0E06-7D7A0DF2F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E4162-DF05-9D9B-03A5-637575299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A27A4-96F6-584C-ACDF-40B4EDF403D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25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A36D3-B855-1D8C-08FF-BCC4EACC6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9E50E-B67F-9ECF-159B-DD7704714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1F1A2-B20D-B2F7-FA61-FA2B6874A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BC6AE-07B3-0B27-AAA9-6986C0BD8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A27A4-96F6-584C-ACDF-40B4EDF403D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64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F1C58-A60C-E321-9054-84D5187D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ED45A-8BCF-293B-46DB-EACEFB9D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5C282-433D-4DB8-2CC0-3266BFA70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06657-9041-6453-378F-D283D93DE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A27A4-96F6-584C-ACDF-40B4EDF403D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307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A27A4-96F6-584C-ACDF-40B4EDF403D4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28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5C8E-AC75-FC4B-BCA6-E40A4FD1E65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06C2-C450-B849-A126-E375230DB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69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5C8E-AC75-FC4B-BCA6-E40A4FD1E65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06C2-C450-B849-A126-E375230DB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5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5C8E-AC75-FC4B-BCA6-E40A4FD1E65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06C2-C450-B849-A126-E375230DB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57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5C8E-AC75-FC4B-BCA6-E40A4FD1E65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06C2-C450-B849-A126-E375230DB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6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5C8E-AC75-FC4B-BCA6-E40A4FD1E65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06C2-C450-B849-A126-E375230DB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1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5C8E-AC75-FC4B-BCA6-E40A4FD1E65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06C2-C450-B849-A126-E375230DB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76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5C8E-AC75-FC4B-BCA6-E40A4FD1E65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06C2-C450-B849-A126-E375230DB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89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5C8E-AC75-FC4B-BCA6-E40A4FD1E65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06C2-C450-B849-A126-E375230DB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5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5C8E-AC75-FC4B-BCA6-E40A4FD1E65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06C2-C450-B849-A126-E375230DB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4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5C8E-AC75-FC4B-BCA6-E40A4FD1E65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06C2-C450-B849-A126-E375230DB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6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5C8E-AC75-FC4B-BCA6-E40A4FD1E65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06C2-C450-B849-A126-E375230DB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43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D5C8E-AC75-FC4B-BCA6-E40A4FD1E65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906C2-C450-B849-A126-E375230DB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52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ugenio.perez@uzh.ch" TargetMode="External"/><Relationship Id="rId2" Type="http://schemas.openxmlformats.org/officeDocument/2006/relationships/hyperlink" Target="mailto:janko.tackmann@uzh.ch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nbt.4229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iqtree.github.io/doc/Frequently-Asked-Questions#how-do-i-interpret-ultrafast-bootstrap-ufboot-support-values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Bio334 – Building Maximum Likelihood Trees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Solutions to the exercises</a:t>
            </a:r>
          </a:p>
          <a:p>
            <a:r>
              <a:rPr lang="en-US" dirty="0"/>
              <a:t>Janko Tackmann and Eugenio Perez-</a:t>
            </a:r>
            <a:r>
              <a:rPr lang="en-US" dirty="0" err="1"/>
              <a:t>Molphe</a:t>
            </a:r>
            <a:r>
              <a:rPr lang="en-US" dirty="0"/>
              <a:t>-Montoya</a:t>
            </a:r>
          </a:p>
          <a:p>
            <a:endParaRPr lang="en-US" dirty="0"/>
          </a:p>
          <a:p>
            <a:r>
              <a:rPr lang="en-US" dirty="0"/>
              <a:t>For remaining doubts feel free to contact us on slack or at:</a:t>
            </a:r>
          </a:p>
          <a:p>
            <a:r>
              <a:rPr lang="en-US" dirty="0">
                <a:hlinkClick r:id="rId2"/>
              </a:rPr>
              <a:t>janko.tackmann@uzh.ch</a:t>
            </a:r>
            <a:r>
              <a:rPr lang="en-US" dirty="0"/>
              <a:t> / </a:t>
            </a:r>
            <a:r>
              <a:rPr lang="en-US" dirty="0">
                <a:hlinkClick r:id="rId3"/>
              </a:rPr>
              <a:t>eugenio.perez@mls.uzh.ch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10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440E-F84B-CDF1-23A3-43855FFA1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Location of today’s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8711B-56EF-C8B5-3CB7-4A7156939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675" y="1589690"/>
            <a:ext cx="9038897" cy="4525963"/>
          </a:xfrm>
        </p:spPr>
        <p:txBody>
          <a:bodyPr/>
          <a:lstStyle/>
          <a:p>
            <a:pPr marL="0" indent="0">
              <a:buNone/>
            </a:pPr>
            <a:r>
              <a:rPr lang="en-CH" dirty="0"/>
              <a:t>Within the cloned github repository:</a:t>
            </a:r>
          </a:p>
          <a:p>
            <a:pPr marL="0" indent="0">
              <a:buNone/>
            </a:pPr>
            <a:r>
              <a:rPr lang="en-CH" sz="2800" dirty="0">
                <a:latin typeface="Andale Mono" panose="020B0509000000000004" pitchFamily="49" charset="0"/>
              </a:rPr>
              <a:t>Bio334/</a:t>
            </a:r>
            <a:r>
              <a:rPr lang="en-US" sz="2800" dirty="0">
                <a:latin typeface="Andale Mono" panose="020B0509000000000004" pitchFamily="49" charset="0"/>
              </a:rPr>
              <a:t>05_maximum_likelihood_phylogenies/exercises</a:t>
            </a:r>
            <a:endParaRPr lang="en-CH" sz="2800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111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– Part 1: The grammar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Is the tree specified as rooted or unrooted?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					((A,(B,(C,D))),(E,F));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80759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– Part 1: The grammar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Is the tree specified as rooted or unrooted?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(</a:t>
            </a: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dirty="0"/>
              <a:t>A,(B,(C,D))</a:t>
            </a:r>
            <a:r>
              <a:rPr lang="en-US" dirty="0">
                <a:solidFill>
                  <a:srgbClr val="00B050"/>
                </a:solidFill>
              </a:rPr>
              <a:t>)</a:t>
            </a:r>
            <a:r>
              <a:rPr lang="en-US" dirty="0"/>
              <a:t>,</a:t>
            </a: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dirty="0"/>
              <a:t>E,F</a:t>
            </a:r>
            <a:r>
              <a:rPr lang="en-US" dirty="0">
                <a:solidFill>
                  <a:srgbClr val="00B050"/>
                </a:solidFill>
              </a:rPr>
              <a:t>)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b="1" dirty="0"/>
              <a:t>					</a:t>
            </a:r>
          </a:p>
          <a:p>
            <a:pPr marL="0" indent="0">
              <a:buNone/>
            </a:pPr>
            <a:r>
              <a:rPr lang="en-US" b="1" dirty="0"/>
              <a:t>					</a:t>
            </a:r>
            <a:r>
              <a:rPr lang="en-US" dirty="0"/>
              <a:t>-&gt;</a:t>
            </a:r>
            <a:r>
              <a:rPr lang="en-US" b="1" dirty="0"/>
              <a:t> </a:t>
            </a:r>
            <a:r>
              <a:rPr lang="en-US" dirty="0"/>
              <a:t>The tree is rooted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6117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 1 – Part 2: Specifying branch length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5811A5-8984-9B4D-AC74-800111076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065" t="46197"/>
          <a:stretch/>
        </p:blipFill>
        <p:spPr>
          <a:xfrm>
            <a:off x="434896" y="1550019"/>
            <a:ext cx="7649738" cy="3279467"/>
          </a:xfrm>
        </p:spPr>
      </p:pic>
    </p:spTree>
    <p:extLst>
      <p:ext uri="{BB962C8B-B14F-4D97-AF65-F5344CB8AC3E}">
        <p14:creationId xmlns:p14="http://schemas.microsoft.com/office/powerpoint/2010/main" val="1632701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 1 – Part 2: Specifying branch length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5811A5-8984-9B4D-AC74-800111076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065" t="46197"/>
          <a:stretch/>
        </p:blipFill>
        <p:spPr>
          <a:xfrm>
            <a:off x="434896" y="1550019"/>
            <a:ext cx="7649738" cy="327946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52041E-072F-7740-A61F-113D00D01624}"/>
              </a:ext>
            </a:extLst>
          </p:cNvPr>
          <p:cNvSpPr txBox="1"/>
          <p:nvPr/>
        </p:nvSpPr>
        <p:spPr>
          <a:xfrm>
            <a:off x="0" y="5151863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(N,(R,(C,M)),(S,F));</a:t>
            </a:r>
          </a:p>
        </p:txBody>
      </p:sp>
    </p:spTree>
    <p:extLst>
      <p:ext uri="{BB962C8B-B14F-4D97-AF65-F5344CB8AC3E}">
        <p14:creationId xmlns:p14="http://schemas.microsoft.com/office/powerpoint/2010/main" val="1161836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 1 – Part 2: Specifying branch length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5811A5-8984-9B4D-AC74-800111076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065" t="46197"/>
          <a:stretch/>
        </p:blipFill>
        <p:spPr>
          <a:xfrm>
            <a:off x="434896" y="1550019"/>
            <a:ext cx="7649738" cy="327946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52041E-072F-7740-A61F-113D00D01624}"/>
              </a:ext>
            </a:extLst>
          </p:cNvPr>
          <p:cNvSpPr txBox="1"/>
          <p:nvPr/>
        </p:nvSpPr>
        <p:spPr>
          <a:xfrm>
            <a:off x="0" y="5151863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(N:0.5,(R:0.5,(C:2,M:2):0.5):0.5,(S:1.5,F:1.5):1);</a:t>
            </a:r>
          </a:p>
        </p:txBody>
      </p:sp>
    </p:spTree>
    <p:extLst>
      <p:ext uri="{BB962C8B-B14F-4D97-AF65-F5344CB8AC3E}">
        <p14:creationId xmlns:p14="http://schemas.microsoft.com/office/powerpoint/2010/main" val="350583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 1 – Part 3: Common errors in </a:t>
            </a:r>
            <a:r>
              <a:rPr lang="en-US" dirty="0" err="1"/>
              <a:t>Newick</a:t>
            </a:r>
            <a:r>
              <a:rPr lang="en-US" dirty="0"/>
              <a:t>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579385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Exercise 1 – Part 3.a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22846" y="3005019"/>
            <a:ext cx="4197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(A,(E,D)),(C,(B,F));</a:t>
            </a:r>
          </a:p>
        </p:txBody>
      </p:sp>
    </p:spTree>
    <p:extLst>
      <p:ext uri="{BB962C8B-B14F-4D97-AF65-F5344CB8AC3E}">
        <p14:creationId xmlns:p14="http://schemas.microsoft.com/office/powerpoint/2010/main" val="3990376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 Shot 2015-05-12 at 14.53.4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02" y="639863"/>
            <a:ext cx="2873798" cy="34652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Exercise 1 – Part 3.a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22846" y="3005019"/>
            <a:ext cx="4197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(A,(E,D)</a:t>
            </a:r>
            <a:r>
              <a:rPr lang="en-US" sz="3200" dirty="0">
                <a:solidFill>
                  <a:srgbClr val="FF0000"/>
                </a:solidFill>
              </a:rPr>
              <a:t>)</a:t>
            </a:r>
            <a:r>
              <a:rPr lang="en-US" sz="3200" dirty="0"/>
              <a:t>,(C,(B,F));</a:t>
            </a:r>
          </a:p>
        </p:txBody>
      </p:sp>
    </p:spTree>
    <p:extLst>
      <p:ext uri="{BB962C8B-B14F-4D97-AF65-F5344CB8AC3E}">
        <p14:creationId xmlns:p14="http://schemas.microsoft.com/office/powerpoint/2010/main" val="2556511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 Shot 2015-05-12 at 14.53.4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02" y="639863"/>
            <a:ext cx="2873798" cy="34652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Exercise 1 – Part 3.a</a:t>
            </a:r>
          </a:p>
        </p:txBody>
      </p:sp>
      <p:pic>
        <p:nvPicPr>
          <p:cNvPr id="9" name="Picture 8" descr="Screen Shot 2015-05-12 at 14.59.17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809" y="2774023"/>
            <a:ext cx="3205238" cy="4083977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3222846" y="3005020"/>
            <a:ext cx="4197582" cy="2200258"/>
            <a:chOff x="2177143" y="2521857"/>
            <a:chExt cx="3431198" cy="2458686"/>
          </a:xfrm>
        </p:grpSpPr>
        <p:sp>
          <p:nvSpPr>
            <p:cNvPr id="3" name="Rectangle 2"/>
            <p:cNvSpPr/>
            <p:nvPr/>
          </p:nvSpPr>
          <p:spPr>
            <a:xfrm>
              <a:off x="2177143" y="4395767"/>
              <a:ext cx="3122770" cy="584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dirty="0"/>
                <a:t>(A,(E,D),(C,(B,F))</a:t>
              </a:r>
              <a:r>
                <a:rPr lang="en-US" sz="3200" b="1" dirty="0">
                  <a:solidFill>
                    <a:srgbClr val="008000"/>
                  </a:solidFill>
                </a:rPr>
                <a:t>)</a:t>
              </a:r>
              <a:r>
                <a:rPr lang="en-US" sz="3200" dirty="0"/>
                <a:t>;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177143" y="2521857"/>
              <a:ext cx="3431198" cy="653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(A,(E,D)</a:t>
              </a:r>
              <a:r>
                <a:rPr lang="en-US" sz="3200" dirty="0">
                  <a:solidFill>
                    <a:srgbClr val="FF0000"/>
                  </a:solidFill>
                </a:rPr>
                <a:t>)</a:t>
              </a:r>
              <a:r>
                <a:rPr lang="en-US" sz="3200" dirty="0"/>
                <a:t>,(C,(B,F));</a:t>
              </a:r>
            </a:p>
          </p:txBody>
        </p:sp>
      </p:grpSp>
      <p:sp>
        <p:nvSpPr>
          <p:cNvPr id="11" name="Down Arrow 10"/>
          <p:cNvSpPr/>
          <p:nvPr/>
        </p:nvSpPr>
        <p:spPr>
          <a:xfrm>
            <a:off x="4064001" y="3737428"/>
            <a:ext cx="1524000" cy="89011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50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1 – Part 3.b</a:t>
            </a:r>
          </a:p>
        </p:txBody>
      </p:sp>
      <p:sp>
        <p:nvSpPr>
          <p:cNvPr id="3" name="Rectangle 2"/>
          <p:cNvSpPr/>
          <p:nvPr/>
        </p:nvSpPr>
        <p:spPr>
          <a:xfrm>
            <a:off x="1936800" y="2265652"/>
            <a:ext cx="51972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aseline="30000" dirty="0"/>
              <a:t>(A:1,D:6,([E:1.01,F:1.2]:1,B:2):0.21,(C:4,G:2.2):2):1);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03398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1 – Part 3.b</a:t>
            </a:r>
          </a:p>
        </p:txBody>
      </p:sp>
      <p:sp>
        <p:nvSpPr>
          <p:cNvPr id="3" name="Rectangle 2"/>
          <p:cNvSpPr/>
          <p:nvPr/>
        </p:nvSpPr>
        <p:spPr>
          <a:xfrm>
            <a:off x="1937414" y="2265652"/>
            <a:ext cx="51972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aseline="30000" dirty="0"/>
              <a:t>(A:1,D:6,(</a:t>
            </a:r>
            <a:r>
              <a:rPr lang="en-US" sz="2800" baseline="30000" dirty="0">
                <a:solidFill>
                  <a:srgbClr val="FF0000"/>
                </a:solidFill>
              </a:rPr>
              <a:t>[</a:t>
            </a:r>
            <a:r>
              <a:rPr lang="en-US" sz="2800" baseline="30000" dirty="0"/>
              <a:t>E:1.01,F:1.2</a:t>
            </a:r>
            <a:r>
              <a:rPr lang="en-US" sz="2800" baseline="30000" dirty="0">
                <a:solidFill>
                  <a:srgbClr val="FF0000"/>
                </a:solidFill>
              </a:rPr>
              <a:t>]</a:t>
            </a:r>
            <a:r>
              <a:rPr lang="en-US" sz="2800" baseline="30000" dirty="0"/>
              <a:t>:1,B:2):0.21,(C:4,G:2.2):2):1);</a:t>
            </a:r>
            <a:endParaRPr lang="en-US" sz="2800" dirty="0"/>
          </a:p>
        </p:txBody>
      </p:sp>
      <p:sp>
        <p:nvSpPr>
          <p:cNvPr id="11" name="Down Arrow 10"/>
          <p:cNvSpPr/>
          <p:nvPr/>
        </p:nvSpPr>
        <p:spPr>
          <a:xfrm>
            <a:off x="3127094" y="2987309"/>
            <a:ext cx="2817897" cy="1239977"/>
          </a:xfrm>
          <a:prstGeom prst="downArrow">
            <a:avLst>
              <a:gd name="adj1" fmla="val 80667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 correct parentheses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84465" y="4425723"/>
            <a:ext cx="53031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(A:1,(D:6,(</a:t>
            </a:r>
            <a:r>
              <a:rPr lang="en-US" sz="2400" b="1" dirty="0">
                <a:solidFill>
                  <a:srgbClr val="00B050"/>
                </a:solidFill>
              </a:rPr>
              <a:t>(</a:t>
            </a:r>
            <a:r>
              <a:rPr lang="en-US" dirty="0"/>
              <a:t>E:1.01,F:1.2</a:t>
            </a:r>
            <a:r>
              <a:rPr lang="en-US" sz="2400" b="1" dirty="0">
                <a:solidFill>
                  <a:srgbClr val="00B050"/>
                </a:solidFill>
              </a:rPr>
              <a:t>)</a:t>
            </a:r>
            <a:r>
              <a:rPr lang="en-US" dirty="0"/>
              <a:t>:1,B:2):0.21),(C:4,G:2.2):2):1);</a:t>
            </a:r>
          </a:p>
        </p:txBody>
      </p:sp>
    </p:spTree>
    <p:extLst>
      <p:ext uri="{BB962C8B-B14F-4D97-AF65-F5344CB8AC3E}">
        <p14:creationId xmlns:p14="http://schemas.microsoft.com/office/powerpoint/2010/main" val="1440355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 Shot 2015-05-12 at 15.04.2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64306" cy="48022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1 – Part 3.b</a:t>
            </a:r>
          </a:p>
        </p:txBody>
      </p:sp>
      <p:sp>
        <p:nvSpPr>
          <p:cNvPr id="3" name="Rectangle 2"/>
          <p:cNvSpPr/>
          <p:nvPr/>
        </p:nvSpPr>
        <p:spPr>
          <a:xfrm>
            <a:off x="1937414" y="2265652"/>
            <a:ext cx="51972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aseline="30000" dirty="0">
                <a:solidFill>
                  <a:schemeClr val="accent4"/>
                </a:solidFill>
              </a:rPr>
              <a:t>(</a:t>
            </a:r>
            <a:r>
              <a:rPr lang="en-US" sz="2800" baseline="30000" dirty="0"/>
              <a:t>A:1,D:6,</a:t>
            </a:r>
            <a:r>
              <a:rPr lang="en-US" sz="2800" baseline="30000" dirty="0">
                <a:solidFill>
                  <a:schemeClr val="accent3">
                    <a:lumMod val="75000"/>
                  </a:schemeClr>
                </a:solidFill>
              </a:rPr>
              <a:t>(</a:t>
            </a:r>
            <a:r>
              <a:rPr lang="en-US" sz="2800" baseline="30000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800" baseline="30000" dirty="0"/>
              <a:t>E:1.01,F:1.2</a:t>
            </a:r>
            <a:r>
              <a:rPr lang="en-US" sz="2800" baseline="30000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sz="2800" baseline="30000" dirty="0"/>
              <a:t>:1,B:2</a:t>
            </a:r>
            <a:r>
              <a:rPr lang="en-US" sz="2800" baseline="30000" dirty="0">
                <a:solidFill>
                  <a:schemeClr val="accent3">
                    <a:lumMod val="75000"/>
                  </a:schemeClr>
                </a:solidFill>
              </a:rPr>
              <a:t>)</a:t>
            </a:r>
            <a:r>
              <a:rPr lang="en-US" sz="2800" baseline="30000" dirty="0"/>
              <a:t>:0.21,</a:t>
            </a:r>
            <a:r>
              <a:rPr lang="en-US" sz="2800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800" baseline="30000" dirty="0"/>
              <a:t>C:4,G:2.2</a:t>
            </a:r>
            <a:r>
              <a:rPr lang="en-US" sz="2800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r>
              <a:rPr lang="en-US" sz="2800" baseline="30000" dirty="0"/>
              <a:t>:2</a:t>
            </a:r>
            <a:r>
              <a:rPr lang="en-US" sz="2800" baseline="30000" dirty="0">
                <a:solidFill>
                  <a:srgbClr val="FF0000"/>
                </a:solidFill>
              </a:rPr>
              <a:t>):1</a:t>
            </a:r>
            <a:r>
              <a:rPr lang="en-US" sz="2800" baseline="30000" dirty="0">
                <a:solidFill>
                  <a:schemeClr val="accent4"/>
                </a:solidFill>
              </a:rPr>
              <a:t>)</a:t>
            </a:r>
            <a:r>
              <a:rPr lang="en-US" sz="2800" baseline="30000" dirty="0"/>
              <a:t>;</a:t>
            </a:r>
            <a:endParaRPr lang="en-US" sz="2800" dirty="0"/>
          </a:p>
        </p:txBody>
      </p:sp>
      <p:sp>
        <p:nvSpPr>
          <p:cNvPr id="11" name="Down Arrow 10"/>
          <p:cNvSpPr/>
          <p:nvPr/>
        </p:nvSpPr>
        <p:spPr>
          <a:xfrm>
            <a:off x="3127094" y="2987309"/>
            <a:ext cx="2817897" cy="1239977"/>
          </a:xfrm>
          <a:prstGeom prst="downArrow">
            <a:avLst>
              <a:gd name="adj1" fmla="val 80667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incorrect</a:t>
            </a:r>
          </a:p>
          <a:p>
            <a:pPr algn="ctr"/>
            <a:r>
              <a:rPr lang="en-US" dirty="0"/>
              <a:t>branch length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165F67-DE59-E346-8DD4-FBD3E0908D76}"/>
              </a:ext>
            </a:extLst>
          </p:cNvPr>
          <p:cNvSpPr/>
          <p:nvPr/>
        </p:nvSpPr>
        <p:spPr>
          <a:xfrm>
            <a:off x="1884465" y="4501926"/>
            <a:ext cx="5303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(A:1,D:6,((E:1.01,F:1.2):1,B:2):0.21),(C:4,G:2.2):2);</a:t>
            </a:r>
          </a:p>
        </p:txBody>
      </p:sp>
    </p:spTree>
    <p:extLst>
      <p:ext uri="{BB962C8B-B14F-4D97-AF65-F5344CB8AC3E}">
        <p14:creationId xmlns:p14="http://schemas.microsoft.com/office/powerpoint/2010/main" val="1149244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wn Arrow 4"/>
          <p:cNvSpPr/>
          <p:nvPr/>
        </p:nvSpPr>
        <p:spPr>
          <a:xfrm>
            <a:off x="3127094" y="2987309"/>
            <a:ext cx="2817897" cy="1239977"/>
          </a:xfrm>
          <a:prstGeom prst="downArrow">
            <a:avLst>
              <a:gd name="adj1" fmla="val 80667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Resolve multi-branching point </a:t>
            </a:r>
          </a:p>
        </p:txBody>
      </p:sp>
      <p:pic>
        <p:nvPicPr>
          <p:cNvPr id="8" name="Picture 7" descr="Screen Shot 2015-05-12 at 15.24.0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786" y="3081902"/>
            <a:ext cx="2185214" cy="3598068"/>
          </a:xfrm>
          <a:prstGeom prst="rect">
            <a:avLst/>
          </a:prstGeom>
        </p:spPr>
      </p:pic>
      <p:pic>
        <p:nvPicPr>
          <p:cNvPr id="4" name="Picture 3" descr="Screen Shot 2015-05-12 at 15.04.27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64306" cy="48022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1 – Part 3.b</a:t>
            </a:r>
          </a:p>
        </p:txBody>
      </p:sp>
      <p:sp>
        <p:nvSpPr>
          <p:cNvPr id="3" name="Rectangle 2"/>
          <p:cNvSpPr/>
          <p:nvPr/>
        </p:nvSpPr>
        <p:spPr>
          <a:xfrm>
            <a:off x="2067257" y="2274005"/>
            <a:ext cx="49375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aseline="30000" dirty="0"/>
              <a:t>(A:1,D:6,((E:1.01,F:1.2):1,B:2):0.21,(C:4,G:2.2):2);</a:t>
            </a:r>
            <a:endParaRPr lang="en-US" sz="2800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57200" y="2265652"/>
            <a:ext cx="616447" cy="1570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7916698" y="4971388"/>
            <a:ext cx="616447" cy="1570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1055" y="5377551"/>
            <a:ext cx="610166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	There are many ways to solve the multifurcation, this</a:t>
            </a:r>
          </a:p>
          <a:p>
            <a:r>
              <a:rPr lang="en-US" dirty="0"/>
              <a:t> 		is just one of the many.	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9F93DE-CBDC-3940-9FE7-E4944F8E02C5}"/>
              </a:ext>
            </a:extLst>
          </p:cNvPr>
          <p:cNvSpPr/>
          <p:nvPr/>
        </p:nvSpPr>
        <p:spPr>
          <a:xfrm>
            <a:off x="1884465" y="4425723"/>
            <a:ext cx="53031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(A:1,</a:t>
            </a:r>
            <a:r>
              <a:rPr lang="en-US" sz="2400" b="1" dirty="0">
                <a:solidFill>
                  <a:srgbClr val="008000"/>
                </a:solidFill>
              </a:rPr>
              <a:t>(</a:t>
            </a:r>
            <a:r>
              <a:rPr lang="en-US" dirty="0"/>
              <a:t>D:6,((E:1.01,F:1.2):1,B:2):0.21</a:t>
            </a:r>
            <a:r>
              <a:rPr lang="en-US" sz="2400" b="1" dirty="0">
                <a:solidFill>
                  <a:srgbClr val="008000"/>
                </a:solidFill>
              </a:rPr>
              <a:t>):1</a:t>
            </a:r>
            <a:r>
              <a:rPr lang="en-US" dirty="0"/>
              <a:t>,(C:4,G:2.2):2);</a:t>
            </a:r>
          </a:p>
        </p:txBody>
      </p:sp>
    </p:spTree>
    <p:extLst>
      <p:ext uri="{BB962C8B-B14F-4D97-AF65-F5344CB8AC3E}">
        <p14:creationId xmlns:p14="http://schemas.microsoft.com/office/powerpoint/2010/main" val="1794823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8BE3A251-7D77-3542-BBC3-4E674C19F5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910913"/>
              </p:ext>
            </p:extLst>
          </p:nvPr>
        </p:nvGraphicFramePr>
        <p:xfrm>
          <a:off x="860425" y="1765300"/>
          <a:ext cx="7421563" cy="383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27700" imgH="2959100" progId="Word.Document.12">
                  <p:embed/>
                </p:oleObj>
              </mc:Choice>
              <mc:Fallback>
                <p:oleObj name="Document" r:id="rId2" imgW="5727700" imgH="29591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0425" y="1765300"/>
                        <a:ext cx="7421563" cy="3833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2562A011-A7AA-E349-8065-4D8D807D569B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Exercise 2 – Overview</a:t>
            </a:r>
          </a:p>
        </p:txBody>
      </p:sp>
    </p:spTree>
    <p:extLst>
      <p:ext uri="{BB962C8B-B14F-4D97-AF65-F5344CB8AC3E}">
        <p14:creationId xmlns:p14="http://schemas.microsoft.com/office/powerpoint/2010/main" val="2617123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– Part 1.d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Can you identify which command line arguments are required (non-optional) for IQ-TREE to be executed?</a:t>
            </a:r>
            <a:endParaRPr lang="de-CH" sz="2800" b="1" dirty="0"/>
          </a:p>
          <a:p>
            <a:pPr marL="0" lv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53255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F6D46-E8C2-3E7C-630B-FE202116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E267C-EC0A-345E-5B45-D7DD2EB9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– Part 1.d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390FE-9CDE-ECCF-396E-D10393A09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Can you identify which command line arguments are required (non-optional) for IQ-TREE to be executed?</a:t>
            </a:r>
            <a:endParaRPr lang="de-CH" sz="2800" b="1" dirty="0"/>
          </a:p>
          <a:p>
            <a:pPr marL="0" lv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-s	</a:t>
            </a:r>
            <a:r>
              <a:rPr lang="en-US" sz="2800" dirty="0"/>
              <a:t>name of the alignment file</a:t>
            </a:r>
          </a:p>
        </p:txBody>
      </p:sp>
    </p:spTree>
    <p:extLst>
      <p:ext uri="{BB962C8B-B14F-4D97-AF65-F5344CB8AC3E}">
        <p14:creationId xmlns:p14="http://schemas.microsoft.com/office/powerpoint/2010/main" val="110732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04E24-D238-C51E-61AD-62F1CFA55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C4D7F-64D3-084B-6E31-656C5BF5E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– Part 1.d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3128C-1B16-6B53-3811-8E07072C5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are other basic parameters that are optional, but quite useful?</a:t>
            </a:r>
          </a:p>
          <a:p>
            <a:pPr marL="0" indent="0">
              <a:buNone/>
            </a:pPr>
            <a:r>
              <a:rPr lang="en-CH" sz="2800" b="1" dirty="0"/>
              <a:t>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10578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8DDB2-4423-FBD6-FAFF-11FF6422A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7A1E-8CD2-C9D6-4D1A-21F681028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– Part 1.d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BC562-A0B6-1FCE-2205-30AE780F8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are other basic parameters that are optional, but quite useful?</a:t>
            </a:r>
          </a:p>
          <a:p>
            <a:pPr marL="0" indent="0">
              <a:buNone/>
            </a:pPr>
            <a:r>
              <a:rPr lang="en-CH" sz="2800" b="1" dirty="0"/>
              <a:t> 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-m	</a:t>
            </a:r>
            <a:r>
              <a:rPr lang="en-US" sz="2800" dirty="0"/>
              <a:t>model of binary (morphological), nucleotide, multi-state, or amino acid substitution </a:t>
            </a:r>
          </a:p>
          <a:p>
            <a:pPr marL="0" indent="0">
              <a:buNone/>
            </a:pPr>
            <a:r>
              <a:rPr lang="en-US" sz="2800" b="1" dirty="0"/>
              <a:t>--prefix </a:t>
            </a:r>
            <a:r>
              <a:rPr lang="en-US" sz="2800" dirty="0"/>
              <a:t>prefix used to name output files</a:t>
            </a:r>
          </a:p>
          <a:p>
            <a:pPr marL="0" indent="0">
              <a:buNone/>
            </a:pPr>
            <a:r>
              <a:rPr lang="en-US" sz="2800" b="1" dirty="0"/>
              <a:t>--seed </a:t>
            </a:r>
            <a:r>
              <a:rPr lang="en-US" sz="2800" dirty="0"/>
              <a:t>random seed for all stochastic steps</a:t>
            </a:r>
          </a:p>
        </p:txBody>
      </p:sp>
    </p:spTree>
    <p:extLst>
      <p:ext uri="{BB962C8B-B14F-4D97-AF65-F5344CB8AC3E}">
        <p14:creationId xmlns:p14="http://schemas.microsoft.com/office/powerpoint/2010/main" val="402479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Running IQ-TREE on the MFS-1 dataset</a:t>
            </a:r>
            <a:endParaRPr lang="en-US" sz="2800" b="1" dirty="0"/>
          </a:p>
          <a:p>
            <a:pPr marL="0" lvl="0" indent="0">
              <a:buNone/>
            </a:pPr>
            <a:endParaRPr lang="en-US" sz="2800" dirty="0"/>
          </a:p>
          <a:p>
            <a:pPr marL="0" lvl="0" indent="0">
              <a:buNone/>
            </a:pPr>
            <a:r>
              <a:rPr lang="en-US" sz="2800" dirty="0" err="1"/>
              <a:t>iqtree</a:t>
            </a:r>
            <a:r>
              <a:rPr lang="en-US" sz="2800" dirty="0"/>
              <a:t> </a:t>
            </a:r>
          </a:p>
          <a:p>
            <a:pPr marL="0" lvl="0" indent="0">
              <a:buNone/>
            </a:pPr>
            <a:r>
              <a:rPr lang="en-US" sz="2800" dirty="0"/>
              <a:t>-s </a:t>
            </a:r>
            <a:r>
              <a:rPr lang="en-US" sz="2800" dirty="0" err="1"/>
              <a:t>mfs_domain_proteins_aligned_taxnames.fa</a:t>
            </a: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800" dirty="0"/>
              <a:t>-m MFP </a:t>
            </a:r>
          </a:p>
          <a:p>
            <a:pPr marL="0" lvl="0" indent="0">
              <a:buNone/>
            </a:pPr>
            <a:r>
              <a:rPr lang="en-US" sz="2800" dirty="0"/>
              <a:t>--prefix </a:t>
            </a:r>
            <a:r>
              <a:rPr lang="en-US" sz="2800" dirty="0" err="1"/>
              <a:t>mfs.auto</a:t>
            </a:r>
            <a:r>
              <a:rPr lang="en-US" sz="2800" dirty="0"/>
              <a:t> </a:t>
            </a:r>
          </a:p>
          <a:p>
            <a:pPr marL="0" lvl="0" indent="0">
              <a:buNone/>
            </a:pPr>
            <a:r>
              <a:rPr lang="en-US" sz="2800" dirty="0"/>
              <a:t>--seed 123</a:t>
            </a:r>
          </a:p>
        </p:txBody>
      </p:sp>
    </p:spTree>
    <p:extLst>
      <p:ext uri="{BB962C8B-B14F-4D97-AF65-F5344CB8AC3E}">
        <p14:creationId xmlns:p14="http://schemas.microsoft.com/office/powerpoint/2010/main" val="3407726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BCF392-0863-494B-B4B6-81C738D2E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400"/>
            <a:ext cx="6848829" cy="66654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C4E487-1CB2-CF4B-982C-3CF275C6DC1C}"/>
              </a:ext>
            </a:extLst>
          </p:cNvPr>
          <p:cNvSpPr txBox="1"/>
          <p:nvPr/>
        </p:nvSpPr>
        <p:spPr>
          <a:xfrm>
            <a:off x="383132" y="232039"/>
            <a:ext cx="3134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Maximum Likelihood (IQ-TREE) </a:t>
            </a:r>
          </a:p>
          <a:p>
            <a:r>
              <a:rPr lang="en-US" dirty="0"/>
              <a:t>- unrooted</a:t>
            </a:r>
          </a:p>
        </p:txBody>
      </p:sp>
    </p:spTree>
    <p:extLst>
      <p:ext uri="{BB962C8B-B14F-4D97-AF65-F5344CB8AC3E}">
        <p14:creationId xmlns:p14="http://schemas.microsoft.com/office/powerpoint/2010/main" val="2487864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78EFCB-9F31-3F30-A0C5-C0EC25D8E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149" y="795230"/>
            <a:ext cx="2456209" cy="587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701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7CB1F-6A53-DD97-0429-A09CB6E2C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A26B2-3DB3-1147-A611-296D25C90941}"/>
              </a:ext>
            </a:extLst>
          </p:cNvPr>
          <p:cNvSpPr txBox="1"/>
          <p:nvPr/>
        </p:nvSpPr>
        <p:spPr>
          <a:xfrm>
            <a:off x="4828901" y="472064"/>
            <a:ext cx="1540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b="1" dirty="0"/>
              <a:t>Kingdom: </a:t>
            </a:r>
          </a:p>
          <a:p>
            <a:r>
              <a:rPr lang="en-CH" b="1" dirty="0"/>
              <a:t>Fusobacteriati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07AF48-345A-AD27-92CE-377C38E9ACD3}"/>
              </a:ext>
            </a:extLst>
          </p:cNvPr>
          <p:cNvSpPr txBox="1"/>
          <p:nvPr/>
        </p:nvSpPr>
        <p:spPr>
          <a:xfrm>
            <a:off x="4828901" y="2707688"/>
            <a:ext cx="1802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b="1" dirty="0"/>
              <a:t>Kingdom: </a:t>
            </a:r>
          </a:p>
          <a:p>
            <a:r>
              <a:rPr lang="en-CH" b="1" dirty="0"/>
              <a:t>Pseudomonadati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C1BEB-5119-0A04-0ADF-31079AC2D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149" y="795230"/>
            <a:ext cx="2456209" cy="58728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3063F1-5F68-18AA-CA03-3CE3EBD4384F}"/>
              </a:ext>
            </a:extLst>
          </p:cNvPr>
          <p:cNvCxnSpPr>
            <a:cxnSpLocks/>
          </p:cNvCxnSpPr>
          <p:nvPr/>
        </p:nvCxnSpPr>
        <p:spPr>
          <a:xfrm>
            <a:off x="6631189" y="1149887"/>
            <a:ext cx="2380728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210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B1CF5-6813-74E2-B3E5-A069B55E1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E01D97-D769-0CEA-07B4-25660056E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033"/>
            <a:ext cx="6848829" cy="666549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23562B-8847-DC68-23F3-B2EFA5150425}"/>
              </a:ext>
            </a:extLst>
          </p:cNvPr>
          <p:cNvCxnSpPr>
            <a:cxnSpLocks/>
          </p:cNvCxnSpPr>
          <p:nvPr/>
        </p:nvCxnSpPr>
        <p:spPr>
          <a:xfrm flipV="1">
            <a:off x="3520670" y="3324596"/>
            <a:ext cx="144379" cy="154248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BC6366C-BCEA-3D08-72EF-21BF5109772A}"/>
              </a:ext>
            </a:extLst>
          </p:cNvPr>
          <p:cNvSpPr txBox="1"/>
          <p:nvPr/>
        </p:nvSpPr>
        <p:spPr>
          <a:xfrm>
            <a:off x="383132" y="232039"/>
            <a:ext cx="3134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Maximum Likelihood (IQ-TREE) </a:t>
            </a:r>
          </a:p>
          <a:p>
            <a:r>
              <a:rPr lang="en-US" dirty="0"/>
              <a:t>- unrooted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1A4668-C86B-3C73-A0A6-80EC4D42E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149" y="795230"/>
            <a:ext cx="2456209" cy="587285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C882B3-1017-6179-2073-B43DDADA01E7}"/>
              </a:ext>
            </a:extLst>
          </p:cNvPr>
          <p:cNvCxnSpPr>
            <a:cxnSpLocks/>
          </p:cNvCxnSpPr>
          <p:nvPr/>
        </p:nvCxnSpPr>
        <p:spPr>
          <a:xfrm>
            <a:off x="6631189" y="1149887"/>
            <a:ext cx="2380728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495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1576-A377-6DA6-CDA6-FE064F447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Revising bacterial taxonomy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C54E4F-17F4-6DF4-E500-3F8150234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258" y="1924235"/>
            <a:ext cx="8801481" cy="38139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163E59-D0DF-B744-4251-CECFDDA4DC65}"/>
              </a:ext>
            </a:extLst>
          </p:cNvPr>
          <p:cNvSpPr txBox="1"/>
          <p:nvPr/>
        </p:nvSpPr>
        <p:spPr>
          <a:xfrm>
            <a:off x="288234" y="6244808"/>
            <a:ext cx="8567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600" dirty="0"/>
              <a:t>Image from: Parks DH et al., </a:t>
            </a:r>
            <a:r>
              <a:rPr lang="en-US" sz="1600" b="0" i="1" u="none" strike="noStrike" dirty="0">
                <a:solidFill>
                  <a:srgbClr val="222222"/>
                </a:solidFill>
                <a:effectLst/>
                <a:latin typeface="-apple-system"/>
              </a:rPr>
              <a:t>Nat </a:t>
            </a:r>
            <a:r>
              <a:rPr lang="en-US" sz="1600" b="0" i="1" u="none" strike="noStrike" dirty="0" err="1">
                <a:solidFill>
                  <a:srgbClr val="222222"/>
                </a:solidFill>
                <a:effectLst/>
                <a:latin typeface="-apple-system"/>
              </a:rPr>
              <a:t>Biotechnol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US" sz="1600" b="1" i="0" u="none" strike="noStrike" dirty="0">
                <a:solidFill>
                  <a:srgbClr val="222222"/>
                </a:solidFill>
                <a:effectLst/>
                <a:latin typeface="-apple-system"/>
              </a:rPr>
              <a:t>36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996–1004 (2018).</a:t>
            </a:r>
            <a:r>
              <a:rPr lang="en-US" sz="1600" dirty="0">
                <a:solidFill>
                  <a:srgbClr val="222222"/>
                </a:solidFill>
                <a:latin typeface="-apple-system"/>
              </a:rPr>
              <a:t>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-apple-system"/>
                <a:hlinkClick r:id="rId3"/>
              </a:rPr>
              <a:t>https://doi.org/10.1038/nbt.4229</a:t>
            </a:r>
            <a:endParaRPr lang="en-US" sz="1600" b="0" i="0" u="none" strike="noStrike" dirty="0">
              <a:solidFill>
                <a:srgbClr val="222222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047711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9A5C880-E2D1-BA7A-5C13-3E55DD2C6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93" t="670" b="899"/>
          <a:stretch/>
        </p:blipFill>
        <p:spPr>
          <a:xfrm>
            <a:off x="-43069" y="0"/>
            <a:ext cx="9187069" cy="6863792"/>
          </a:xfrm>
        </p:spPr>
      </p:pic>
    </p:spTree>
    <p:extLst>
      <p:ext uri="{BB962C8B-B14F-4D97-AF65-F5344CB8AC3E}">
        <p14:creationId xmlns:p14="http://schemas.microsoft.com/office/powerpoint/2010/main" val="2400199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8F17-94BC-1BD6-D83F-6F426BDA9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5655"/>
            <a:ext cx="8229600" cy="1143000"/>
          </a:xfrm>
        </p:spPr>
        <p:txBody>
          <a:bodyPr>
            <a:noAutofit/>
          </a:bodyPr>
          <a:lstStyle/>
          <a:p>
            <a:r>
              <a:rPr lang="en-US" sz="3000" dirty="0"/>
              <a:t>Maximum Likelihood (IQ-TREE, rooted on Fusobacteria)</a:t>
            </a:r>
            <a:br>
              <a:rPr lang="en-US" sz="3000" dirty="0"/>
            </a:br>
            <a:endParaRPr lang="en-CH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0F323-1AB5-7B79-D060-313C5EDB1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2760"/>
            <a:ext cx="9023401" cy="279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05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BA3FAF-9E6F-7141-B6D7-0E4628EFE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2" y="473425"/>
            <a:ext cx="8843211" cy="29906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07B559-CD6C-2346-82EF-F95ED7BC6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63" y="4129532"/>
            <a:ext cx="8795085" cy="27284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648C7D-CC6B-D25D-36AC-B97FB2337F99}"/>
              </a:ext>
            </a:extLst>
          </p:cNvPr>
          <p:cNvSpPr txBox="1"/>
          <p:nvPr/>
        </p:nvSpPr>
        <p:spPr>
          <a:xfrm>
            <a:off x="1929449" y="3760200"/>
            <a:ext cx="5376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Maximum Likelihood (IQ-TREE, rooted on Fusobacteria)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ECB94-67D2-0F27-A907-4DD0D47DBD93}"/>
              </a:ext>
            </a:extLst>
          </p:cNvPr>
          <p:cNvSpPr txBox="1"/>
          <p:nvPr/>
        </p:nvSpPr>
        <p:spPr>
          <a:xfrm>
            <a:off x="2925901" y="194400"/>
            <a:ext cx="3305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UPGMA (rooted on Fusobacteria)</a:t>
            </a:r>
          </a:p>
        </p:txBody>
      </p:sp>
    </p:spTree>
    <p:extLst>
      <p:ext uri="{BB962C8B-B14F-4D97-AF65-F5344CB8AC3E}">
        <p14:creationId xmlns:p14="http://schemas.microsoft.com/office/powerpoint/2010/main" val="2446052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BA3FAF-9E6F-7141-B6D7-0E4628EFE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2" y="473425"/>
            <a:ext cx="8843211" cy="29906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07B559-CD6C-2346-82EF-F95ED7BC6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63" y="4129532"/>
            <a:ext cx="8795085" cy="27284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648C7D-CC6B-D25D-36AC-B97FB2337F99}"/>
              </a:ext>
            </a:extLst>
          </p:cNvPr>
          <p:cNvSpPr txBox="1"/>
          <p:nvPr/>
        </p:nvSpPr>
        <p:spPr>
          <a:xfrm>
            <a:off x="1929449" y="3760200"/>
            <a:ext cx="5376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Maximum Likelihood (IQ-TREE, rooted on Fusobacteria)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ECB94-67D2-0F27-A907-4DD0D47DBD93}"/>
              </a:ext>
            </a:extLst>
          </p:cNvPr>
          <p:cNvSpPr txBox="1"/>
          <p:nvPr/>
        </p:nvSpPr>
        <p:spPr>
          <a:xfrm>
            <a:off x="2925901" y="194400"/>
            <a:ext cx="3305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UPGMA (rooted on Fusobacteria)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1625A1-E570-6E79-F581-46A75E5B3048}"/>
              </a:ext>
            </a:extLst>
          </p:cNvPr>
          <p:cNvSpPr/>
          <p:nvPr/>
        </p:nvSpPr>
        <p:spPr>
          <a:xfrm>
            <a:off x="6059158" y="1977887"/>
            <a:ext cx="2647519" cy="5565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38B701-6A8F-DBC2-0D1F-14321BEEDB48}"/>
              </a:ext>
            </a:extLst>
          </p:cNvPr>
          <p:cNvSpPr/>
          <p:nvPr/>
        </p:nvSpPr>
        <p:spPr>
          <a:xfrm>
            <a:off x="6059158" y="4671542"/>
            <a:ext cx="2647519" cy="2340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E2EF7B-EE49-34E9-AF86-056C477C9A15}"/>
              </a:ext>
            </a:extLst>
          </p:cNvPr>
          <p:cNvSpPr/>
          <p:nvPr/>
        </p:nvSpPr>
        <p:spPr>
          <a:xfrm>
            <a:off x="6059158" y="5571026"/>
            <a:ext cx="2647519" cy="3725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90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D178CD6-D2F6-B745-8577-119EE58B56FA}"/>
              </a:ext>
            </a:extLst>
          </p:cNvPr>
          <p:cNvSpPr txBox="1"/>
          <p:nvPr/>
        </p:nvSpPr>
        <p:spPr>
          <a:xfrm>
            <a:off x="2550028" y="195481"/>
            <a:ext cx="4122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Neighbor joining (rooted on Fusobacteria)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DDDF02-CC51-9D47-AAC5-096C5276F762}"/>
              </a:ext>
            </a:extLst>
          </p:cNvPr>
          <p:cNvSpPr txBox="1"/>
          <p:nvPr/>
        </p:nvSpPr>
        <p:spPr>
          <a:xfrm>
            <a:off x="1929449" y="3760200"/>
            <a:ext cx="5376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Maximum Likelihood (IQ-TREE, rooted on Fusobacteria)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49DF4D-19A5-904C-9FE3-F73A8BF40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28" y="564813"/>
            <a:ext cx="8584141" cy="28670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CB7943-A1A1-BB4E-BF5F-A50A8FB5C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63" y="4129532"/>
            <a:ext cx="8795085" cy="272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408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49DF4D-19A5-904C-9FE3-F73A8BF40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28" y="564813"/>
            <a:ext cx="8584141" cy="28670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CB7943-A1A1-BB4E-BF5F-A50A8FB5C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63" y="4129532"/>
            <a:ext cx="8795085" cy="27284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4792F90-0959-3543-AB74-45254ED767B6}"/>
              </a:ext>
            </a:extLst>
          </p:cNvPr>
          <p:cNvSpPr/>
          <p:nvPr/>
        </p:nvSpPr>
        <p:spPr>
          <a:xfrm>
            <a:off x="2023872" y="1853184"/>
            <a:ext cx="1584960" cy="3413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D4B811-C3D3-CA41-A020-6518C6FAE45F}"/>
              </a:ext>
            </a:extLst>
          </p:cNvPr>
          <p:cNvSpPr/>
          <p:nvPr/>
        </p:nvSpPr>
        <p:spPr>
          <a:xfrm>
            <a:off x="1383792" y="4549498"/>
            <a:ext cx="1584960" cy="3413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6392B-572D-6DD6-FB3A-2438E97E6DE9}"/>
              </a:ext>
            </a:extLst>
          </p:cNvPr>
          <p:cNvSpPr txBox="1"/>
          <p:nvPr/>
        </p:nvSpPr>
        <p:spPr>
          <a:xfrm>
            <a:off x="2550028" y="195481"/>
            <a:ext cx="4122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Neighbor joining (rooted on Fusobacteria)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BC660-33E6-8707-2F53-5478413077EF}"/>
              </a:ext>
            </a:extLst>
          </p:cNvPr>
          <p:cNvSpPr txBox="1"/>
          <p:nvPr/>
        </p:nvSpPr>
        <p:spPr>
          <a:xfrm>
            <a:off x="1929449" y="3760200"/>
            <a:ext cx="5376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Maximum Likelihood (IQ-TREE, rooted on Fusobacteria)</a:t>
            </a:r>
          </a:p>
        </p:txBody>
      </p:sp>
    </p:spTree>
    <p:extLst>
      <p:ext uri="{BB962C8B-B14F-4D97-AF65-F5344CB8AC3E}">
        <p14:creationId xmlns:p14="http://schemas.microsoft.com/office/powerpoint/2010/main" val="22433151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Sequence alignment</a:t>
            </a:r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6C3C1-D7D2-AF40-AC77-37D5CC8AB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3" y="2776106"/>
            <a:ext cx="4322614" cy="2192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FDB6AD-F376-354A-99F6-E7FCCE217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288" y="2778554"/>
            <a:ext cx="4304965" cy="219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831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D3179-0AF4-0B52-0FD7-4AF5775EC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1DFF5-2E60-7896-FE48-1E424DB5F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77EE7-805B-02F3-9183-0AE9EE8DB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00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is bootstrapping?</a:t>
            </a:r>
            <a:r>
              <a:rPr lang="en-CH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Font typeface="Arial"/>
              <a:buNone/>
            </a:pPr>
            <a:endParaRPr lang="en-CH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7691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AA356-2270-7A8B-1943-FCDFCECBE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872E-FC3E-C879-D622-B38C4DF08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D13AC-3AE0-F957-4106-59850367E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00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is bootstrapping?</a:t>
            </a:r>
            <a:r>
              <a:rPr lang="en-CH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Font typeface="Arial"/>
              <a:buNone/>
            </a:pPr>
            <a:r>
              <a:rPr lang="en-CH" sz="2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General statistical technique</a:t>
            </a:r>
            <a:r>
              <a:rPr lang="en-CH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that repeatedly resamples observed data to estimate the variability or confidence of a statistic (e.g. the mean or median)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6DE0B3-0249-CCB0-9887-598B524DA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641" y="3385528"/>
            <a:ext cx="4611953" cy="342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009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87E92-F238-05EF-6893-5591EAA99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C3F17-5195-DAB8-9A3F-9315664A5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8209B-7940-D760-E63C-D8F677997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00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is bootstrapping?</a:t>
            </a:r>
            <a:r>
              <a:rPr lang="en-CH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Font typeface="Arial"/>
              <a:buNone/>
            </a:pPr>
            <a:r>
              <a:rPr lang="en-CH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General statistical technique that repeatedly resamples observed data to estimate the variability or confidence of a statistic (e.g. the mean or median)</a:t>
            </a:r>
          </a:p>
          <a:p>
            <a:pPr marL="0" indent="0">
              <a:buFont typeface="Arial"/>
              <a:buNone/>
            </a:pPr>
            <a:endParaRPr lang="en-CH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/>
              <a:buNone/>
            </a:pPr>
            <a:r>
              <a:rPr lang="en-CH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phylogenetics, the bootstrapped statistic is </a:t>
            </a:r>
            <a:r>
              <a:rPr lang="en-CH" sz="2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tree topology </a:t>
            </a:r>
            <a:r>
              <a:rPr lang="en-CH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(or clade support).</a:t>
            </a:r>
          </a:p>
          <a:p>
            <a:pPr marL="0" indent="0">
              <a:buFont typeface="Arial"/>
              <a:buNone/>
            </a:pPr>
            <a:endParaRPr lang="en-CH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7249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5EAB7-FE24-2F52-9A8D-C62D284C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352B-71FE-63D3-FF6B-523CF8B0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57540-01E9-2069-9E07-FC8EB91BC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00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is bootstrapping?</a:t>
            </a:r>
            <a:r>
              <a:rPr lang="en-CH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Font typeface="Arial"/>
              <a:buNone/>
            </a:pPr>
            <a:endParaRPr lang="en-CH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 descr="Understanding Phylogenetics - Geneious">
            <a:extLst>
              <a:ext uri="{FF2B5EF4-FFF2-40B4-BE49-F238E27FC236}">
                <a16:creationId xmlns:a16="http://schemas.microsoft.com/office/drawing/2014/main" id="{48903DC2-5225-63E0-FAC3-CF49BCF62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7" r="8392" b="4151"/>
          <a:stretch/>
        </p:blipFill>
        <p:spPr bwMode="auto">
          <a:xfrm>
            <a:off x="236369" y="2246533"/>
            <a:ext cx="8671262" cy="407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62925C-B383-C950-ECF8-FF5E39F06F41}"/>
              </a:ext>
            </a:extLst>
          </p:cNvPr>
          <p:cNvSpPr txBox="1"/>
          <p:nvPr/>
        </p:nvSpPr>
        <p:spPr>
          <a:xfrm>
            <a:off x="288235" y="6477406"/>
            <a:ext cx="8567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600" dirty="0"/>
              <a:t>Image from: </a:t>
            </a:r>
            <a:r>
              <a:rPr lang="en-US" sz="1600" dirty="0"/>
              <a:t>https://</a:t>
            </a:r>
            <a:r>
              <a:rPr lang="en-US" sz="1600" dirty="0" err="1"/>
              <a:t>www.geneious.com</a:t>
            </a:r>
            <a:r>
              <a:rPr lang="en-US" sz="1600" dirty="0"/>
              <a:t>/guides/understanding-phylogenetics</a:t>
            </a:r>
            <a:endParaRPr lang="en-US" sz="1600" b="0" i="0" u="none" strike="noStrike" dirty="0">
              <a:solidFill>
                <a:srgbClr val="222222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7398393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D0138-1FAF-EA36-1EBF-7E0A107E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DF1045BF-A062-C0C0-EB2E-F3D29E6E9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811" y="236538"/>
            <a:ext cx="5645381" cy="603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102592-1F56-8D31-75F6-CADE2AB0D388}"/>
              </a:ext>
            </a:extLst>
          </p:cNvPr>
          <p:cNvSpPr txBox="1"/>
          <p:nvPr/>
        </p:nvSpPr>
        <p:spPr>
          <a:xfrm>
            <a:off x="288235" y="6477406"/>
            <a:ext cx="8567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600" dirty="0"/>
              <a:t>Image from: Warren R et al., </a:t>
            </a:r>
            <a:r>
              <a:rPr lang="en-US" sz="1600" b="0" i="1" u="none" strike="noStrike" dirty="0" err="1">
                <a:solidFill>
                  <a:srgbClr val="222222"/>
                </a:solidFill>
                <a:effectLst/>
                <a:latin typeface="-apple-system"/>
              </a:rPr>
              <a:t>PeerJ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</a:t>
            </a:r>
            <a:r>
              <a:rPr lang="en-US" sz="1600" b="1" i="0" u="none" strike="noStrike" dirty="0">
                <a:solidFill>
                  <a:srgbClr val="222222"/>
                </a:solidFill>
                <a:effectLst/>
                <a:latin typeface="-apple-system"/>
              </a:rPr>
              <a:t>8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 (2020)</a:t>
            </a:r>
          </a:p>
        </p:txBody>
      </p:sp>
    </p:spTree>
    <p:extLst>
      <p:ext uri="{BB962C8B-B14F-4D97-AF65-F5344CB8AC3E}">
        <p14:creationId xmlns:p14="http://schemas.microsoft.com/office/powerpoint/2010/main" val="3796349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E8A46-EA44-EAB2-3FD9-475F5A23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1082F-55B0-9099-7B43-9ECEB131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2D0B-C431-5DEC-3600-AA36160F2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00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are limitations of bootstrapping?</a:t>
            </a:r>
            <a:r>
              <a:rPr lang="en-CH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Font typeface="Arial"/>
              <a:buNone/>
            </a:pPr>
            <a:endParaRPr lang="en-CH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023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714A-030B-AB1D-2DDB-FF179055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838C3-A9F8-90FA-CF69-BC6C24FFB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F4D5F-BD8D-B51C-B869-1C45C3E44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00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are limitations of bootstrapping?</a:t>
            </a:r>
            <a:r>
              <a:rPr lang="en-CH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Font typeface="Arial"/>
              <a:buNone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Bootstrap values are not probabilities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a clade (or tree) being correct – they measure consistency, not truth.</a:t>
            </a:r>
          </a:p>
          <a:p>
            <a:pPr marL="0" indent="0">
              <a:buFont typeface="Arial"/>
              <a:buNone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/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They only quantify stability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with respect to the dataset </a:t>
            </a:r>
            <a:r>
              <a:rPr lang="en-CH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 h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igh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support suggests robustness (not necessarily correctness), low support suggest instability (not necessarily incorrectness).</a:t>
            </a:r>
          </a:p>
          <a:p>
            <a:pPr marL="0" indent="0">
              <a:buFont typeface="Arial"/>
              <a:buNone/>
            </a:pPr>
            <a:endParaRPr lang="en-US" sz="2400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/>
              <a:buNone/>
            </a:pPr>
            <a:r>
              <a:rPr lang="en-CH" sz="2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However: </a:t>
            </a:r>
            <a:r>
              <a:rPr lang="en-CH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given good data (!) and appropriate methods, they can provide reasonable support for evolutionary hypotheses.</a:t>
            </a:r>
            <a:endParaRPr lang="en-CH" sz="2400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4266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38504B-5BD1-B44F-AE40-86CCE5D53A96}"/>
              </a:ext>
            </a:extLst>
          </p:cNvPr>
          <p:cNvSpPr txBox="1">
            <a:spLocks/>
          </p:cNvSpPr>
          <p:nvPr/>
        </p:nvSpPr>
        <p:spPr>
          <a:xfrm>
            <a:off x="457200" y="1275606"/>
            <a:ext cx="8229600" cy="5406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hat do the following more advanced parameters do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0" indent="0">
              <a:buFont typeface="Arial"/>
              <a:buNone/>
            </a:pPr>
            <a:r>
              <a:rPr lang="en-US" sz="2400" dirty="0"/>
              <a:t>-b / -B</a:t>
            </a:r>
          </a:p>
        </p:txBody>
      </p:sp>
    </p:spTree>
    <p:extLst>
      <p:ext uri="{BB962C8B-B14F-4D97-AF65-F5344CB8AC3E}">
        <p14:creationId xmlns:p14="http://schemas.microsoft.com/office/powerpoint/2010/main" val="11110788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100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hat do the following, slightly more advanced parameters do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0" indent="0">
              <a:buNone/>
            </a:pPr>
            <a:r>
              <a:rPr lang="en-US" sz="2400" b="1" dirty="0"/>
              <a:t>-b	</a:t>
            </a:r>
            <a:r>
              <a:rPr lang="en-US" sz="2400" dirty="0"/>
              <a:t>standard bootstrap procedure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-B	</a:t>
            </a:r>
            <a:r>
              <a:rPr lang="en-US" sz="2400" dirty="0"/>
              <a:t>ultra-fast approximate bootstrap procedure (</a:t>
            </a:r>
            <a:r>
              <a:rPr lang="en-US" sz="2400" dirty="0" err="1"/>
              <a:t>UFBoot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	- orders of magnitude faster </a:t>
            </a:r>
          </a:p>
          <a:p>
            <a:pPr marL="0" indent="0">
              <a:buNone/>
            </a:pPr>
            <a:r>
              <a:rPr lang="en-US" sz="2400" dirty="0"/>
              <a:t> 	- non-standard interpretation: </a:t>
            </a:r>
            <a:r>
              <a:rPr lang="en-US" sz="2400" dirty="0">
                <a:hlinkClick r:id="rId2"/>
              </a:rPr>
              <a:t>UFBoot FAQ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	- can be further supported with approx. likelihood-ratio tests 	  (-</a:t>
            </a:r>
            <a:r>
              <a:rPr lang="en-US" sz="2400" dirty="0" err="1"/>
              <a:t>alrt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58282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B09A5-36BF-7D3E-5D87-E5BB34397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FD17F-AD35-33E0-480B-1280ABB03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4718B-6211-D731-6F24-1064BD731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00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did you get a smaller number of bootstraps than specified?</a:t>
            </a:r>
            <a:r>
              <a:rPr lang="en-CH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6795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C221-DFC0-3FDE-BB39-4F826354A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2AA05-1647-EA07-A0F3-963BB3A72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72461-2807-CE99-85BF-347353ED1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00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did you get a smaller number of bootstraps than specified?</a:t>
            </a:r>
            <a:r>
              <a:rPr lang="en-CH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Font typeface="Arial"/>
              <a:buNone/>
            </a:pPr>
            <a:r>
              <a:rPr lang="en-CH" sz="2400" dirty="0">
                <a:latin typeface="Calibri" panose="020F0502020204030204" pitchFamily="34" charset="0"/>
                <a:cs typeface="Calibri" panose="020F0502020204030204" pitchFamily="34" charset="0"/>
              </a:rPr>
              <a:t>UFBoot uses a “stopping rule” heuristic to avoid generation of unnecessary bootstrap trees</a:t>
            </a:r>
          </a:p>
          <a:p>
            <a:pPr marL="0" indent="0">
              <a:buFont typeface="Arial"/>
              <a:buNone/>
            </a:pPr>
            <a:r>
              <a:rPr lang="en-CH" sz="2400" dirty="0">
                <a:latin typeface="Calibri" panose="020F0502020204030204" pitchFamily="34" charset="0"/>
                <a:cs typeface="Calibri" panose="020F0502020204030204" pitchFamily="34" charset="0"/>
              </a:rPr>
              <a:t>	- when split frequencies have converged (do not 	“substantially” change anymore), stop the algorithm</a:t>
            </a:r>
          </a:p>
        </p:txBody>
      </p:sp>
    </p:spTree>
    <p:extLst>
      <p:ext uri="{BB962C8B-B14F-4D97-AF65-F5344CB8AC3E}">
        <p14:creationId xmlns:p14="http://schemas.microsoft.com/office/powerpoint/2010/main" val="12232612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037CC5-6989-CE44-B5B8-15EE37316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490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0908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2CDBA0-B560-AE4A-A8CD-C1FC4D327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2272"/>
            <a:ext cx="9144000" cy="515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432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556E2-E095-2044-BF79-877E1FA27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87" y="1616243"/>
            <a:ext cx="8955913" cy="496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026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DFB9-BB8A-9B4F-9C83-DB8268EAC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3</a:t>
            </a:r>
            <a:endParaRPr lang="en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318F3E-5BC5-6944-9FC9-3E34EFDB9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05" t="2110"/>
          <a:stretch/>
        </p:blipFill>
        <p:spPr>
          <a:xfrm>
            <a:off x="0" y="1417638"/>
            <a:ext cx="9144000" cy="4762769"/>
          </a:xfrm>
        </p:spPr>
      </p:pic>
    </p:spTree>
    <p:extLst>
      <p:ext uri="{BB962C8B-B14F-4D97-AF65-F5344CB8AC3E}">
        <p14:creationId xmlns:p14="http://schemas.microsoft.com/office/powerpoint/2010/main" val="970354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0E856-4455-854E-BAA3-55ABE59564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285"/>
          <a:stretch/>
        </p:blipFill>
        <p:spPr>
          <a:xfrm>
            <a:off x="0" y="1410567"/>
            <a:ext cx="9144000" cy="48092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08DFB9-BB8A-9B4F-9C83-DB8268EAC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4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2283309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86212F9-DBE6-7046-9AD1-533D4CB1CD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99" t="15479" r="4092" b="16012"/>
          <a:stretch/>
        </p:blipFill>
        <p:spPr>
          <a:xfrm>
            <a:off x="0" y="1410170"/>
            <a:ext cx="9144000" cy="4809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08DFB9-BB8A-9B4F-9C83-DB8268EAC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Part 4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006712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15234</TotalTime>
  <Words>1339</Words>
  <Application>Microsoft Macintosh PowerPoint</Application>
  <PresentationFormat>On-screen Show (4:3)</PresentationFormat>
  <Paragraphs>149</Paragraphs>
  <Slides>50</Slides>
  <Notes>10</Notes>
  <HiddenSlides>3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-apple-system</vt:lpstr>
      <vt:lpstr>Andale Mono</vt:lpstr>
      <vt:lpstr>Arial</vt:lpstr>
      <vt:lpstr>Calibri</vt:lpstr>
      <vt:lpstr>Office Theme</vt:lpstr>
      <vt:lpstr>Document</vt:lpstr>
      <vt:lpstr>Bio334 – Building Maximum Likelihood Trees</vt:lpstr>
      <vt:lpstr>Location of today’s exercises</vt:lpstr>
      <vt:lpstr>Exercise 1 – Part 1: The grammar</vt:lpstr>
      <vt:lpstr>Exercise 1 – Part 1: The grammar</vt:lpstr>
      <vt:lpstr>Exercise 1 – Part 2: Specifying branch length</vt:lpstr>
      <vt:lpstr>Exercise 1 – Part 2: Specifying branch length</vt:lpstr>
      <vt:lpstr>Exercise 1 – Part 2: Specifying branch length</vt:lpstr>
      <vt:lpstr>Exercise 1 – Part 3: Common errors in Newick representations</vt:lpstr>
      <vt:lpstr>Exercise 1 – Part 3.a</vt:lpstr>
      <vt:lpstr>Exercise 1 – Part 3.a</vt:lpstr>
      <vt:lpstr>Exercise 1 – Part 3.a</vt:lpstr>
      <vt:lpstr>Exercise 1 – Part 3.b</vt:lpstr>
      <vt:lpstr>Exercise 1 – Part 3.b</vt:lpstr>
      <vt:lpstr>Exercise 1 – Part 3.b</vt:lpstr>
      <vt:lpstr>Exercise 1 – Part 3.b</vt:lpstr>
      <vt:lpstr>PowerPoint Presentation</vt:lpstr>
      <vt:lpstr>Exercise 2 – Part 1.d</vt:lpstr>
      <vt:lpstr>Exercise 2 – Part 1.d</vt:lpstr>
      <vt:lpstr>Exercise 2 – Part 1.d</vt:lpstr>
      <vt:lpstr>Exercise 2 – Part 1.d</vt:lpstr>
      <vt:lpstr>Exercise 2 – Part 2</vt:lpstr>
      <vt:lpstr>PowerPoint Presentation</vt:lpstr>
      <vt:lpstr>PowerPoint Presentation</vt:lpstr>
      <vt:lpstr>PowerPoint Presentation</vt:lpstr>
      <vt:lpstr>PowerPoint Presentation</vt:lpstr>
      <vt:lpstr>Revising bacterial taxonomy</vt:lpstr>
      <vt:lpstr>PowerPoint Presentation</vt:lpstr>
      <vt:lpstr>Maximum Likelihood (IQ-TREE, rooted on Fusobacteria) </vt:lpstr>
      <vt:lpstr>PowerPoint Presentation</vt:lpstr>
      <vt:lpstr>PowerPoint Presentation</vt:lpstr>
      <vt:lpstr>PowerPoint Presentation</vt:lpstr>
      <vt:lpstr>PowerPoint Presentation</vt:lpstr>
      <vt:lpstr>Exercise 3 – Part 1</vt:lpstr>
      <vt:lpstr>Exercise 3 – Part 2</vt:lpstr>
      <vt:lpstr>Exercise 3 – Part 2</vt:lpstr>
      <vt:lpstr>Exercise 3 – Part 2</vt:lpstr>
      <vt:lpstr>Exercise 3 – Part 2</vt:lpstr>
      <vt:lpstr>PowerPoint Presentation</vt:lpstr>
      <vt:lpstr>Exercise 3 – Part 2</vt:lpstr>
      <vt:lpstr>Exercise 3 – Part 2</vt:lpstr>
      <vt:lpstr>Exercise 3 – Part 2</vt:lpstr>
      <vt:lpstr>Exercise 3 – Part 2</vt:lpstr>
      <vt:lpstr>Exercise 3 – Part 2</vt:lpstr>
      <vt:lpstr>Exercise 3 – Part 2</vt:lpstr>
      <vt:lpstr>Exercise 3 – Part 3</vt:lpstr>
      <vt:lpstr>Exercise 3 – Part 4</vt:lpstr>
      <vt:lpstr>Exercise 3 – Part 4</vt:lpstr>
      <vt:lpstr>Exercise 3 – Part 3</vt:lpstr>
      <vt:lpstr>Exercise 3 – Part 4</vt:lpstr>
      <vt:lpstr>Exercise 3 – Part 4</vt:lpstr>
    </vt:vector>
  </TitlesOfParts>
  <Company>UZH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population history</dc:title>
  <dc:creator>Davide Heller</dc:creator>
  <cp:lastModifiedBy>Janko Tackmann</cp:lastModifiedBy>
  <cp:revision>229</cp:revision>
  <cp:lastPrinted>2019-05-13T16:36:17Z</cp:lastPrinted>
  <dcterms:created xsi:type="dcterms:W3CDTF">2015-05-12T11:31:47Z</dcterms:created>
  <dcterms:modified xsi:type="dcterms:W3CDTF">2026-05-13T07:07:32Z</dcterms:modified>
</cp:coreProperties>
</file>